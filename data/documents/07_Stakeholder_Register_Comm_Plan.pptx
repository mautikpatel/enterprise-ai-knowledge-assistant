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63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A4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PURNIMA BANK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SentinelAI Fraud Detection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Register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Communication Plan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Analysis, Engagement &amp; Communication Cadence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6217920" cy="1143000"/>
          </a:xfrm>
          <a:prstGeom prst="roundRect">
            <a:avLst>
              <a:gd name="adj" fmla="val 48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23036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OWNER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Mautik Patel, Project Delivery Manager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       </a:t>
            </a: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22, 2026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BANK  ·  SentinelAI Fraud Detection Platform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–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Register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/ interest mapping and engagement strategy for each key stakeholder group.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Stakeholder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Power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Interest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Engagement Strategy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</a:rPr>
                        <a:t>Sarah Whitfield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CRO / Sponsor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E1B1B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E1B1B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Manage closely – monthly steering committee, immediate escalation of high risks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</a:rPr>
                        <a:t>David Okonjo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Head of Fraud Ops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E1B1B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E1B1B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Manage closely – bi-weekly workstream syncs, direct input on case workflow design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</a:rPr>
                        <a:t>Priya Nataraj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Head of Data Science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E1B1B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E1B1B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Manage closely – sprint reviews, joint model validation planning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</a:rPr>
                        <a:t>Marcus Webb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Head of Card Payments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E1B1B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08900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Keep satisfied – monthly integration checkpoint, early POC involvement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</a:rPr>
                        <a:t>Compliance / Legal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Model Risk &amp; Regulatory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E1B1B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08900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Keep satisfied – engaged from Phase 2 to avoid late-stage rework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</a:rPr>
                        <a:t>Fraud Analysts (front line)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End Users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C6E49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E1B1B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Keep informed – UAT participation, training sessions pre-go-live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</a:rPr>
                        <a:t>Customer Experience Team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Downstream Impact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C6E49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08900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Keep informed – quarterly updates on false-decline improvement metrics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</a:rPr>
                        <a:t>Enterprise IT Infrastructure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Platform Support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08900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C6E49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Monitor – involved at integration and cutover phases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BANK  ·  SentinelAI Fraud Detection Platform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–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Cadence, channel, and ownership for recurring project communications.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Communication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Audience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</a:rPr>
                        <a:t>Steering Committee update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Sponsor, PMO, workstream leads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Monthly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In-person / Teams + deck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Mautik P.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</a:rPr>
                        <a:t>Core team stand-up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Delivery team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Weekly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Teams call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Mautik P.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</a:rPr>
                        <a:t>Sprint review &amp; demo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Data Science, Engineering, Fraud Ops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Bi-weekly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Teams call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Priya N.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</a:rPr>
                        <a:t>Status report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Sponsor, Steering Committee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Weekly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Email (report template)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Mautik P.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</a:rPr>
                        <a:t>Risk &amp; issue review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Core team, Compliance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Weekly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Teams call / RAID log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Mautik P.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</a:rPr>
                        <a:t>Analyst training &amp; UAT briefing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Fraud Ops analysts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Twice (pre-pilot, pre-go-live)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In-person workshop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David O.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</a:rPr>
                        <a:t>Executive go-live readiness review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CRO, all workstream leads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Once, prior to cutover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In-person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Mautik P.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</a:rPr>
                        <a:t>Post-implementation review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Sponsor, Steering Committee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Once, 90 days post go-live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Report + presentation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</a:rPr>
                        <a:t>Mautik P.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BANK  ·  SentinelAI Fraud Detection Platform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–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Path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escalation levels ensure issues reach the right decision-maker within a defined time target.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4460" y="2148840"/>
            <a:ext cx="731520" cy="731520"/>
          </a:xfrm>
          <a:prstGeom prst="ellipse">
            <a:avLst/>
          </a:prstGeom>
          <a:solidFill>
            <a:srgbClr val="E7F3EC"/>
          </a:solidFill>
          <a:ln w="19050">
            <a:solidFill>
              <a:srgbClr val="2C6E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44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33192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Team Issue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within workstream, logged in RAID log.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5440680"/>
            <a:ext cx="2240280" cy="411480"/>
          </a:xfrm>
          <a:prstGeom prst="roundRect">
            <a:avLst>
              <a:gd name="adj" fmla="val 111111"/>
            </a:avLst>
          </a:prstGeom>
          <a:solidFill>
            <a:srgbClr val="E7F3E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440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48 hours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81528" y="3808476"/>
            <a:ext cx="201168" cy="292608"/>
          </a:xfrm>
          <a:prstGeom prst="chevron">
            <a:avLst/>
          </a:prstGeom>
          <a:solidFill>
            <a:srgbClr val="C7CCD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29100" y="2148840"/>
            <a:ext cx="731520" cy="731520"/>
          </a:xfrm>
          <a:prstGeom prst="ellipse">
            <a:avLst/>
          </a:prstGeom>
          <a:solidFill>
            <a:srgbClr val="FBF3DC"/>
          </a:solidFill>
          <a:ln w="19050">
            <a:solidFill>
              <a:srgbClr val="B08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91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08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2900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33192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Cross-Workstream Conflict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474720" y="4069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Medium/high risk escalated to Project Delivery Manager.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5440680"/>
            <a:ext cx="2240280" cy="411480"/>
          </a:xfrm>
          <a:prstGeom prst="roundRect">
            <a:avLst>
              <a:gd name="adj" fmla="val 111111"/>
            </a:avLst>
          </a:prstGeom>
          <a:solidFill>
            <a:srgbClr val="FBF3DC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5440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 business days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16168" y="3808476"/>
            <a:ext cx="201168" cy="292608"/>
          </a:xfrm>
          <a:prstGeom prst="chevron">
            <a:avLst/>
          </a:prstGeom>
          <a:solidFill>
            <a:srgbClr val="C7CCDB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187452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63740" y="2148840"/>
            <a:ext cx="731520" cy="731520"/>
          </a:xfrm>
          <a:prstGeom prst="ellipse">
            <a:avLst/>
          </a:prstGeom>
          <a:solidFill>
            <a:srgbClr val="FCE9DE"/>
          </a:solidFill>
          <a:ln w="19050">
            <a:solidFill>
              <a:srgbClr val="C154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637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15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6364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C1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33192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Budget, Scope or Timeline Impact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309360" y="4069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to Steering Committee at next review, or emergency session if severe.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5440680"/>
            <a:ext cx="2240280" cy="411480"/>
          </a:xfrm>
          <a:prstGeom prst="roundRect">
            <a:avLst>
              <a:gd name="adj" fmla="val 111111"/>
            </a:avLst>
          </a:prstGeom>
          <a:solidFill>
            <a:srgbClr val="FCE9DE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5440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1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Next review / emergency session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750808" y="3808476"/>
            <a:ext cx="201168" cy="292608"/>
          </a:xfrm>
          <a:prstGeom prst="chevron">
            <a:avLst/>
          </a:prstGeom>
          <a:solidFill>
            <a:srgbClr val="C7CCDB"/>
          </a:solidFill>
          <a:ln/>
        </p:spPr>
      </p:sp>
      <p:sp>
        <p:nvSpPr>
          <p:cNvPr id="32" name="Shape 30"/>
          <p:cNvSpPr/>
          <p:nvPr/>
        </p:nvSpPr>
        <p:spPr>
          <a:xfrm>
            <a:off x="8961120" y="187452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898380" y="2148840"/>
            <a:ext cx="731520" cy="731520"/>
          </a:xfrm>
          <a:prstGeom prst="ellipse">
            <a:avLst/>
          </a:prstGeom>
          <a:solidFill>
            <a:srgbClr val="F8E1E1"/>
          </a:solidFill>
          <a:ln w="19050">
            <a:solidFill>
              <a:srgbClr val="9E1B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983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E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09828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9E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98280" y="33192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or Reputational Risk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144000" y="4069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escalation to CRO and Compliance regardless of scheduled cadence.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44000" y="5440680"/>
            <a:ext cx="2240280" cy="411480"/>
          </a:xfrm>
          <a:prstGeom prst="roundRect">
            <a:avLst>
              <a:gd name="adj" fmla="val 111111"/>
            </a:avLst>
          </a:prstGeom>
          <a:solidFill>
            <a:srgbClr val="F8E1E1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0" y="5440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E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Immediate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BANK  ·  SentinelAI Fraud Detection Platform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41832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–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Office PowerPoint</Application>
  <PresentationFormat>Widescreen</PresentationFormat>
  <Paragraphs>138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Stakeholder Register &amp; Communication Plan</dc:title>
  <dc:subject>PptxGenJS Presentation</dc:subject>
  <dc:creator>Mautik Patel</dc:creator>
  <cp:lastModifiedBy>Mautik Patel</cp:lastModifiedBy>
  <cp:revision>2</cp:revision>
  <dcterms:created xsi:type="dcterms:W3CDTF">2026-07-06T04:54:32Z</dcterms:created>
  <dcterms:modified xsi:type="dcterms:W3CDTF">2026-07-06T06:06:44Z</dcterms:modified>
</cp:coreProperties>
</file>